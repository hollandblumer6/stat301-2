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ad95d6ab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ad95d6ab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1557b79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1557b79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0f0ab1e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0f0ab1e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1557b79b9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1557b79b9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f0554fc7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f0554fc7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05e0dd1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05e0dd1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1557b79b9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81557b79b9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f0554fc7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7f0554fc7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1bbc0ffa3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1bbc0ffa3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1557b79b9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1557b79b9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1557b79b9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1557b79b9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81bbc0ffa3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81bbc0ffa3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843500" y="380925"/>
            <a:ext cx="7005000" cy="9426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100000" y="3205675"/>
            <a:ext cx="8700600" cy="18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Stat 301-2 </a:t>
            </a:r>
            <a:endParaRPr b="1" sz="60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Presentation</a:t>
            </a:r>
            <a:endParaRPr b="1" sz="80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517675" y="351825"/>
            <a:ext cx="56640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Holland Blumer</a:t>
            </a:r>
            <a:endParaRPr i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Major: Manufacturing and Design Engineering</a:t>
            </a:r>
            <a:endParaRPr i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March 11, 2020</a:t>
            </a:r>
            <a:r>
              <a:rPr i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00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221700" y="383975"/>
            <a:ext cx="8700600" cy="10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7850" y="2134500"/>
            <a:ext cx="3648001" cy="13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350" y="3034727"/>
            <a:ext cx="2753651" cy="174422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363025" y="4778950"/>
            <a:ext cx="1478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Election Data</a:t>
            </a:r>
            <a:endParaRPr i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20293" l="1629" r="53965" t="11100"/>
          <a:stretch/>
        </p:blipFill>
        <p:spPr>
          <a:xfrm>
            <a:off x="725550" y="1617150"/>
            <a:ext cx="2753650" cy="64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4"/>
          <p:cNvCxnSpPr>
            <a:stCxn id="67" idx="3"/>
          </p:cNvCxnSpPr>
          <p:nvPr/>
        </p:nvCxnSpPr>
        <p:spPr>
          <a:xfrm>
            <a:off x="3479200" y="1940150"/>
            <a:ext cx="1664400" cy="438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stCxn id="65" idx="3"/>
          </p:cNvCxnSpPr>
          <p:nvPr/>
        </p:nvCxnSpPr>
        <p:spPr>
          <a:xfrm flipH="1" rot="10800000">
            <a:off x="3549001" y="3163139"/>
            <a:ext cx="1607400" cy="743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00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221700" y="383975"/>
            <a:ext cx="8700600" cy="10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450" y="1861225"/>
            <a:ext cx="2722284" cy="181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438" y="1385675"/>
            <a:ext cx="2657775" cy="30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771400" y="3780100"/>
            <a:ext cx="1478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Bernie Sanders</a:t>
            </a:r>
            <a:endParaRPr i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970988" y="4528375"/>
            <a:ext cx="1478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Joe Biden</a:t>
            </a:r>
            <a:endParaRPr i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5">
            <a:alphaModFix/>
          </a:blip>
          <a:srcRect b="0" l="15569" r="16853" t="0"/>
          <a:stretch/>
        </p:blipFill>
        <p:spPr>
          <a:xfrm>
            <a:off x="6577125" y="1713350"/>
            <a:ext cx="2062426" cy="17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6868975" y="3676950"/>
            <a:ext cx="1478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Donald Trump</a:t>
            </a:r>
            <a:endParaRPr i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00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ctrTitle"/>
          </p:nvPr>
        </p:nvSpPr>
        <p:spPr>
          <a:xfrm>
            <a:off x="221700" y="383975"/>
            <a:ext cx="8700600" cy="10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050" y="1339612"/>
            <a:ext cx="3436151" cy="2464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375" y="1877650"/>
            <a:ext cx="4921272" cy="1815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6498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795625" y="273750"/>
            <a:ext cx="16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5720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highlight>
                <a:srgbClr val="9900FF"/>
              </a:highlight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759325" y="2308400"/>
            <a:ext cx="118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26109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65331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6789450" y="298041"/>
            <a:ext cx="144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0" y="1503725"/>
            <a:ext cx="9144000" cy="36396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2797850" y="343500"/>
            <a:ext cx="172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4768200" y="298041"/>
            <a:ext cx="156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Polynomial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7"/>
          <p:cNvSpPr txBox="1"/>
          <p:nvPr>
            <p:ph idx="4294967295" type="ctrTitle"/>
          </p:nvPr>
        </p:nvSpPr>
        <p:spPr>
          <a:xfrm>
            <a:off x="649800" y="800513"/>
            <a:ext cx="21930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Tidy Data</a:t>
            </a:r>
            <a:endParaRPr b="1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438" y="1701400"/>
            <a:ext cx="6257124" cy="313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6498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795625" y="273750"/>
            <a:ext cx="16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5720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highlight>
                <a:srgbClr val="9900FF"/>
              </a:highlight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1759325" y="2308400"/>
            <a:ext cx="118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26109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65331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6789450" y="298041"/>
            <a:ext cx="144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0" y="1433950"/>
            <a:ext cx="9144000" cy="37095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797850" y="343500"/>
            <a:ext cx="172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4768200" y="298041"/>
            <a:ext cx="156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Regression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8"/>
          <p:cNvSpPr txBox="1"/>
          <p:nvPr>
            <p:ph idx="4294967295" type="ctrTitle"/>
          </p:nvPr>
        </p:nvSpPr>
        <p:spPr>
          <a:xfrm>
            <a:off x="649800" y="800513"/>
            <a:ext cx="21930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1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0" r="23248" t="0"/>
          <a:stretch/>
        </p:blipFill>
        <p:spPr>
          <a:xfrm>
            <a:off x="532700" y="1701400"/>
            <a:ext cx="3429250" cy="308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 rotWithShape="1">
          <a:blip r:embed="rId4">
            <a:alphaModFix/>
          </a:blip>
          <a:srcRect b="1624" l="0" r="0" t="2258"/>
          <a:stretch/>
        </p:blipFill>
        <p:spPr>
          <a:xfrm>
            <a:off x="5017300" y="1701400"/>
            <a:ext cx="3613898" cy="30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6498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795625" y="273750"/>
            <a:ext cx="16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5720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highlight>
                <a:srgbClr val="9900FF"/>
              </a:highlight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1759325" y="2308400"/>
            <a:ext cx="118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26109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65331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6789450" y="298041"/>
            <a:ext cx="144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0" y="1450175"/>
            <a:ext cx="9144000" cy="36933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2797850" y="343500"/>
            <a:ext cx="172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768200" y="298041"/>
            <a:ext cx="156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9"/>
          <p:cNvSpPr txBox="1"/>
          <p:nvPr>
            <p:ph idx="4294967295" type="ctrTitle"/>
          </p:nvPr>
        </p:nvSpPr>
        <p:spPr>
          <a:xfrm>
            <a:off x="649800" y="800513"/>
            <a:ext cx="21930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b="1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38" y="1849850"/>
            <a:ext cx="4067467" cy="265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8" y="1849850"/>
            <a:ext cx="4297612" cy="265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6498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795625" y="273750"/>
            <a:ext cx="16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Findings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5720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highlight>
                <a:srgbClr val="9900FF"/>
              </a:highlight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1759325" y="2308400"/>
            <a:ext cx="118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26109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65331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6789450" y="298041"/>
            <a:ext cx="144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0" y="1460575"/>
            <a:ext cx="9144000" cy="36828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2797850" y="343500"/>
            <a:ext cx="172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LDA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4768200" y="298041"/>
            <a:ext cx="156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0"/>
          <p:cNvSpPr txBox="1"/>
          <p:nvPr>
            <p:ph idx="4294967295" type="ctrTitle"/>
          </p:nvPr>
        </p:nvSpPr>
        <p:spPr>
          <a:xfrm>
            <a:off x="795625" y="904000"/>
            <a:ext cx="64878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Multiple Linear Regression</a:t>
            </a:r>
            <a:endParaRPr b="1" sz="26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6777" y="1750698"/>
            <a:ext cx="4666448" cy="3029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>
            <a:off x="6498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795625" y="273750"/>
            <a:ext cx="16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Findings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45720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highlight>
                <a:srgbClr val="9900FF"/>
              </a:highlight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1759325" y="2308400"/>
            <a:ext cx="118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26109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65331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6789450" y="298041"/>
            <a:ext cx="144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0" y="1460575"/>
            <a:ext cx="9144000" cy="36828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2797850" y="343500"/>
            <a:ext cx="172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LDA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768200" y="298041"/>
            <a:ext cx="156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Regression </a:t>
            </a: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1"/>
          <p:cNvSpPr txBox="1"/>
          <p:nvPr>
            <p:ph idx="4294967295" type="ctrTitle"/>
          </p:nvPr>
        </p:nvSpPr>
        <p:spPr>
          <a:xfrm>
            <a:off x="795625" y="904000"/>
            <a:ext cx="64878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Subset Selection/Ridge/Lasso</a:t>
            </a:r>
            <a:endParaRPr b="1" sz="26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625" y="2062550"/>
            <a:ext cx="7934298" cy="223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6498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795625" y="273750"/>
            <a:ext cx="16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Findings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45720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highlight>
                <a:srgbClr val="9900FF"/>
              </a:highlight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1759325" y="2308400"/>
            <a:ext cx="118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26109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65331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6789450" y="298041"/>
            <a:ext cx="144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0" y="1460575"/>
            <a:ext cx="9144000" cy="36828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2797850" y="343500"/>
            <a:ext cx="172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LDA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4768200" y="298041"/>
            <a:ext cx="156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Regression </a:t>
            </a: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191250" y="1579425"/>
            <a:ext cx="6598200" cy="24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rgbClr val="FFFFFF"/>
                </a:solidFill>
              </a:rPr>
              <a:t>Polynomial 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3" name="Google Shape;193;p22"/>
          <p:cNvSpPr txBox="1"/>
          <p:nvPr>
            <p:ph idx="4294967295" type="ctrTitle"/>
          </p:nvPr>
        </p:nvSpPr>
        <p:spPr>
          <a:xfrm>
            <a:off x="795625" y="784800"/>
            <a:ext cx="35478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Regression Cont..</a:t>
            </a:r>
            <a:endParaRPr b="1" sz="26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269" y="2114125"/>
            <a:ext cx="3685951" cy="24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100" y="2571738"/>
            <a:ext cx="3685951" cy="167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498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795625" y="273750"/>
            <a:ext cx="16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Findings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45720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highlight>
                <a:srgbClr val="9900FF"/>
              </a:highlight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1759325" y="2308400"/>
            <a:ext cx="118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26109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65331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6789450" y="298041"/>
            <a:ext cx="144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0" y="1145600"/>
            <a:ext cx="9144000" cy="39978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08" name="Google Shape;2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2797850" y="343500"/>
            <a:ext cx="172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LDA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4768200" y="298041"/>
            <a:ext cx="156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Polynomial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649800" y="756263"/>
            <a:ext cx="2986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1" sz="18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2E79C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1068650" y="1707850"/>
            <a:ext cx="72108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AutoNum type="arabicPeriod"/>
            </a:pPr>
            <a:r>
              <a:rPr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Increase sample size 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AutoNum type="arabicPeriod"/>
            </a:pPr>
            <a:r>
              <a:rPr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Loop through dates &amp; remove rows that don’t match 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---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AutoNum type="arabicPeriod"/>
            </a:pPr>
            <a:r>
              <a:rPr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swine flu and AAL data from 2009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AutoNum type="arabicPeriod"/>
            </a:pPr>
            <a:r>
              <a:rPr lang="en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Yahoo Finance API in R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/>
          <p:nvPr/>
        </p:nvSpPr>
        <p:spPr>
          <a:xfrm>
            <a:off x="6498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795625" y="273750"/>
            <a:ext cx="16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Findings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45720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highlight>
                <a:srgbClr val="9900FF"/>
              </a:highlight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1759325" y="2308400"/>
            <a:ext cx="118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2610900" y="235191"/>
            <a:ext cx="1961100" cy="3003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6533100" y="235191"/>
            <a:ext cx="1961100" cy="300300"/>
          </a:xfrm>
          <a:prstGeom prst="chevron">
            <a:avLst>
              <a:gd fmla="val 50000" name="adj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6789450" y="298041"/>
            <a:ext cx="14484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0" y="1145600"/>
            <a:ext cx="9144000" cy="39978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25" name="Google Shape;22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2797850" y="343500"/>
            <a:ext cx="17247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LDA</a:t>
            </a:r>
            <a:endParaRPr b="1"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4768200" y="298041"/>
            <a:ext cx="156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Polynomial </a:t>
            </a:r>
            <a:endParaRPr sz="9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649800" y="756263"/>
            <a:ext cx="29865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9900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1" sz="1800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2E79C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966600" y="2308400"/>
            <a:ext cx="72108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